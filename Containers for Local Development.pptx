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9"/>
  </p:notesMasterIdLst>
  <p:sldIdLst>
    <p:sldId id="258" r:id="rId3"/>
    <p:sldId id="279" r:id="rId4"/>
    <p:sldId id="290" r:id="rId5"/>
    <p:sldId id="261" r:id="rId6"/>
    <p:sldId id="283" r:id="rId7"/>
    <p:sldId id="284" r:id="rId8"/>
    <p:sldId id="281" r:id="rId9"/>
    <p:sldId id="282" r:id="rId10"/>
    <p:sldId id="285" r:id="rId11"/>
    <p:sldId id="293" r:id="rId12"/>
    <p:sldId id="262" r:id="rId13"/>
    <p:sldId id="287" r:id="rId14"/>
    <p:sldId id="292" r:id="rId15"/>
    <p:sldId id="291" r:id="rId16"/>
    <p:sldId id="289" r:id="rId17"/>
    <p:sldId id="275" r:id="rId18"/>
  </p:sldIdLst>
  <p:sldSz cx="9144000" cy="5143500" type="screen16x9"/>
  <p:notesSz cx="6858000" cy="9144000"/>
  <p:embeddedFontLst>
    <p:embeddedFont>
      <p:font typeface="EB Garamond Medium" panose="000006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/>
    <p:restoredTop sz="94658"/>
  </p:normalViewPr>
  <p:slideViewPr>
    <p:cSldViewPr snapToGrid="0">
      <p:cViewPr varScale="1">
        <p:scale>
          <a:sx n="160" d="100"/>
          <a:sy n="160" d="100"/>
        </p:scale>
        <p:origin x="80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8570d8460_1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78570d8460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F64C7019-722C-33FA-BFC5-89E1E27E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D7105672-FAD0-FCE1-F1CE-2BAAE3C37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CC354A7D-CFA5-6DEB-BFCF-2EE543FAC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959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5256FF40-FFB2-DA22-744F-C078B537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F0EC3836-8DAC-7C23-F0B9-A8BCE806A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4F5C39C5-D052-0F68-4397-037AB694C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768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8570d8460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78570d8460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7D6B5401-25A4-8950-E64A-FA855702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4E84DC0D-2B27-9701-6EAE-1AC691F5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CF691B29-9E83-0516-7691-781EFB18F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4919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6C48E6B4-5E1F-8937-DEFD-61AE7F12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8E9788D2-415D-0563-7923-1844B89D0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D19683E6-78D4-65D5-C83D-9EDB148F0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171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F5CA55D3-BF40-3937-1BF4-FF1566E5A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A91DD68F-17F4-A7E0-31FC-7A8ED7B9E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C721524F-65FC-D2B3-8C86-7BDCABC91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81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285B416F-506B-B34F-C2C6-A4123D5E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0C36780C-39F3-2291-49DE-528B997CD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065A521C-8BB7-3769-8851-C3BD41F65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7295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95593F8E-7472-EF32-D46D-13377A3C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1F08A641-5E2C-D45F-FDC9-708D020118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3505374C-30B4-E62B-F266-F07D79224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2723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6AF822-FCD4-0FD6-BD10-6E59D2C8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26A30946-D70F-C90D-D638-C5A93E4A1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DA5401CF-45F4-D8BC-09ED-B74EDB99E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2247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8570d8460_2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278570d8460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AFF5E777-40EB-390F-6F43-BE58A434B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8570d8460_1_148:notes">
            <a:extLst>
              <a:ext uri="{FF2B5EF4-FFF2-40B4-BE49-F238E27FC236}">
                <a16:creationId xmlns:a16="http://schemas.microsoft.com/office/drawing/2014/main" id="{70A188F1-F4C4-5B4B-BD2D-0AA74A9D8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78570d8460_1_148:notes">
            <a:extLst>
              <a:ext uri="{FF2B5EF4-FFF2-40B4-BE49-F238E27FC236}">
                <a16:creationId xmlns:a16="http://schemas.microsoft.com/office/drawing/2014/main" id="{8F6350DE-27CA-D49C-7013-D3CEABBEA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1399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CD952B1D-740C-DF73-AE8B-E6DF01C7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F827EB0E-0AA1-2788-D73E-CF302D161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977FD669-02DB-F476-602C-7932F75E6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087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C3B325DF-01F2-46AE-EF15-71AD8186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570d8460_1_158:notes">
            <a:extLst>
              <a:ext uri="{FF2B5EF4-FFF2-40B4-BE49-F238E27FC236}">
                <a16:creationId xmlns:a16="http://schemas.microsoft.com/office/drawing/2014/main" id="{C4DF5262-4561-7F58-EC66-57F056050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78570d8460_1_158:notes">
            <a:extLst>
              <a:ext uri="{FF2B5EF4-FFF2-40B4-BE49-F238E27FC236}">
                <a16:creationId xmlns:a16="http://schemas.microsoft.com/office/drawing/2014/main" id="{308E84E6-9AEC-55CC-B275-E05921C4D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945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78570d8460_1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78570d8460_1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A Title">
  <p:cSld name="Title Photo 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2" y="0"/>
            <a:ext cx="9144000" cy="51435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40005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571500" y="2495800"/>
            <a:ext cx="40005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EB Garamond Medium"/>
              <a:buNone/>
              <a:defRPr sz="3000">
                <a:solidFill>
                  <a:schemeClr val="accent3"/>
                </a:solidFill>
                <a:latin typeface="EB Garamond Medium"/>
                <a:ea typeface="EB Garamond Medium"/>
                <a:cs typeface="EB Garamond Medium"/>
                <a:sym typeface="EB Garamond Medium"/>
              </a:defRPr>
            </a:lvl1pPr>
            <a:lvl2pPr marL="914400" lvl="1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7" y="4206240"/>
            <a:ext cx="384048" cy="393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E46962"/>
          </p15:clr>
        </p15:guide>
        <p15:guide id="2" pos="36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A Divider">
  <p:cSld name="Title Photo 3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29196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571500" y="2495800"/>
            <a:ext cx="2919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EB Garamond Medium"/>
              <a:buNone/>
              <a:defRPr sz="3000">
                <a:latin typeface="EB Garamond Medium"/>
                <a:ea typeface="EB Garamond Medium"/>
                <a:cs typeface="EB Garamond Medium"/>
                <a:sym typeface="EB Garamond Medium"/>
              </a:defRPr>
            </a:lvl1pPr>
            <a:lvl2pPr marL="914400" lvl="1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7pPr>
            <a:lvl8pPr marL="365760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8pPr>
            <a:lvl9pPr marL="411480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83" name="Google Shape;8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7" y="4205250"/>
            <a:ext cx="384048" cy="393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E46962"/>
          </p15:clr>
        </p15:guide>
        <p15:guide id="2" pos="360">
          <p15:clr>
            <a:srgbClr val="E46962"/>
          </p15:clr>
        </p15:guide>
        <p15:guide id="3" pos="2199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B Divider">
  <p:cSld name="Title Photo 3_1_1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/>
          <p:nvPr/>
        </p:nvSpPr>
        <p:spPr>
          <a:xfrm>
            <a:off x="-2" y="0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29196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571500" y="2495800"/>
            <a:ext cx="2919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EB Garamond Medium"/>
              <a:buNone/>
              <a:defRPr sz="3000">
                <a:latin typeface="EB Garamond Medium"/>
                <a:ea typeface="EB Garamond Medium"/>
                <a:cs typeface="EB Garamond Medium"/>
                <a:sym typeface="EB Garamond Medium"/>
              </a:defRPr>
            </a:lvl1pPr>
            <a:lvl2pPr marL="914400" lvl="1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7pPr>
            <a:lvl8pPr marL="365760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8pPr>
            <a:lvl9pPr marL="411480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88" name="Google Shape;8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7" y="4206240"/>
            <a:ext cx="384048" cy="393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E46962"/>
          </p15:clr>
        </p15:guide>
        <p15:guide id="2" pos="360">
          <p15:clr>
            <a:srgbClr val="E46962"/>
          </p15:clr>
        </p15:guide>
        <p15:guide id="3" pos="219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A Title and Content">
  <p:cSld name="Title and Conte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dk1"/>
                </a:solidFill>
              </a:defRPr>
            </a:lvl4pPr>
            <a:lvl5pPr marL="2286000" lvl="4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dartgo.org/devcourse-containers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C Two Content Numbered">
  <p:cSld name="Two Content Numbered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241130" y="1988820"/>
            <a:ext cx="4224528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lphaLcPeriod"/>
              <a:defRPr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2"/>
          </p:nvPr>
        </p:nvSpPr>
        <p:spPr>
          <a:xfrm>
            <a:off x="4672933" y="1988820"/>
            <a:ext cx="4227703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lphaLcPeriod"/>
              <a:defRPr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romanLcPeriod"/>
              <a:defRPr sz="15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arabicPeriod"/>
              <a:defRPr sz="15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AutoNum type="alphaLcPeriod"/>
              <a:defRPr sz="15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857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dartgo.org/devcourse-containers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Thank you">
  <p:cSld name="Thank you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/>
          <p:nvPr/>
        </p:nvSpPr>
        <p:spPr>
          <a:xfrm>
            <a:off x="2" y="0"/>
            <a:ext cx="9143999" cy="51435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241697" y="1684833"/>
            <a:ext cx="8660606" cy="1898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94" name="Google Shape;19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1697" y="4820338"/>
            <a:ext cx="204226" cy="20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Full Picture (Bleed)">
  <p:cSld name="Full Picture (Bleed)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1" name="Google Shape;201;p37"/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EB Garamond Medium"/>
              <a:buNone/>
              <a:defRPr sz="3000" i="0" u="none" strike="noStrike" cap="none">
                <a:solidFill>
                  <a:schemeClr val="accent1"/>
                </a:solidFill>
                <a:latin typeface="EB Garamond Medium"/>
                <a:ea typeface="EB Garamond Medium"/>
                <a:cs typeface="EB Garamond Medium"/>
                <a:sym typeface="EB Garamond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41131" y="1774189"/>
            <a:ext cx="8659505" cy="3101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5222" y="4819075"/>
            <a:ext cx="204226" cy="2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dartgo.org/devcourse-containers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9" r:id="rId4"/>
    <p:sldLayoutId id="2147483676" r:id="rId5"/>
    <p:sldLayoutId id="2147483680" r:id="rId6"/>
    <p:sldLayoutId id="214748368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67">
          <p15:clr>
            <a:srgbClr val="F26B43"/>
          </p15:clr>
        </p15:guide>
        <p15:guide id="2" pos="5607">
          <p15:clr>
            <a:srgbClr val="F26B43"/>
          </p15:clr>
        </p15:guide>
        <p15:guide id="3" pos="152">
          <p15:clr>
            <a:srgbClr val="F26B43"/>
          </p15:clr>
        </p15:guide>
        <p15:guide id="4" orient="horz" pos="1117">
          <p15:clr>
            <a:srgbClr val="F26B43"/>
          </p15:clr>
        </p15:guide>
        <p15:guide id="5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40005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None/>
            </a:pPr>
            <a:r>
              <a:rPr lang="en" dirty="0"/>
              <a:t>Containers for Local Development</a:t>
            </a:r>
            <a:endParaRPr dirty="0"/>
          </a:p>
        </p:txBody>
      </p:sp>
      <p:sp>
        <p:nvSpPr>
          <p:cNvPr id="216" name="Google Shape;216;p40"/>
          <p:cNvSpPr txBox="1">
            <a:spLocks noGrp="1"/>
          </p:cNvSpPr>
          <p:nvPr>
            <p:ph type="body" idx="1"/>
          </p:nvPr>
        </p:nvSpPr>
        <p:spPr>
          <a:xfrm>
            <a:off x="571500" y="2572000"/>
            <a:ext cx="40005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SzPts val="3000"/>
              <a:buNone/>
            </a:pPr>
            <a:r>
              <a:rPr lang="en" dirty="0"/>
              <a:t>Matt Rogers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SzPts val="3000"/>
              <a:buNone/>
            </a:pPr>
            <a:r>
              <a:rPr lang="en" dirty="0" err="1"/>
              <a:t>DevCourse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0F03E325-E885-D710-2C45-3E5B2545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109596F9-96EC-2E25-0342-CEE625770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What is a container and why would we use one?</a:t>
            </a:r>
            <a:endParaRPr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Crash-course in useful terminology</a:t>
            </a:r>
            <a:endParaRPr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Why </a:t>
            </a:r>
            <a:r>
              <a:rPr lang="en-US" i="1" dirty="0"/>
              <a:t>compose</a:t>
            </a:r>
            <a:r>
              <a:rPr lang="en-US" dirty="0"/>
              <a:t> instead of `</a:t>
            </a:r>
            <a:r>
              <a:rPr lang="en-US" dirty="0" err="1"/>
              <a:t>podman</a:t>
            </a:r>
            <a:r>
              <a:rPr lang="en-US" dirty="0"/>
              <a:t> run`</a:t>
            </a:r>
          </a:p>
          <a:p>
            <a:pPr>
              <a:buFont typeface="Arial"/>
              <a:buChar char="●"/>
            </a:pPr>
            <a:r>
              <a:rPr lang="en-US" dirty="0"/>
              <a:t>Live demo: containerizing a multi-service application</a:t>
            </a:r>
            <a:endParaRPr dirty="0"/>
          </a:p>
          <a:p>
            <a:pPr marL="457200" lvl="0" indent="-342900" algn="l" rtl="0"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dirty="0"/>
              <a:t>Patterns and anti-patterns in containerized applications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dirty="0"/>
              <a:t>A few words on when to use containers and when not to bother</a:t>
            </a:r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9E6D8FB2-2A1F-4E4F-2276-BAA72D621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What we’ll learn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04908098-4F8F-DC3D-D374-8DE8006968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AD35EB3E-8339-F743-500E-9667A209E8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644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10B05ED2-8E76-0582-3904-45C9F4C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0DF75E25-1C5A-BECE-5DE9-DA9A074E5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you’re going to code along with me</a:t>
            </a:r>
          </a:p>
          <a:p>
            <a:pPr lvl="1">
              <a:buChar char="●"/>
            </a:pPr>
            <a:r>
              <a:rPr lang="en-US" dirty="0"/>
              <a:t>Open a terminal</a:t>
            </a:r>
          </a:p>
          <a:p>
            <a:pPr lvl="1">
              <a:buChar char="●"/>
            </a:pPr>
            <a:r>
              <a:rPr lang="en-US" dirty="0"/>
              <a:t>Run `</a:t>
            </a:r>
            <a:r>
              <a:rPr lang="en-US" dirty="0" err="1"/>
              <a:t>podman</a:t>
            </a:r>
            <a:r>
              <a:rPr lang="en-US" dirty="0"/>
              <a:t> run hello-world`</a:t>
            </a:r>
          </a:p>
          <a:p>
            <a:pPr lvl="1">
              <a:buChar char="●"/>
            </a:pPr>
            <a:r>
              <a:rPr lang="en-US" dirty="0"/>
              <a:t>You may need to run either (or both) `</a:t>
            </a:r>
            <a:r>
              <a:rPr lang="en-US" dirty="0" err="1"/>
              <a:t>podman</a:t>
            </a:r>
            <a:r>
              <a:rPr lang="en-US" dirty="0"/>
              <a:t> machine </a:t>
            </a:r>
            <a:r>
              <a:rPr lang="en-US" dirty="0" err="1"/>
              <a:t>init</a:t>
            </a:r>
            <a:r>
              <a:rPr lang="en-US" dirty="0"/>
              <a:t>` or `</a:t>
            </a:r>
            <a:r>
              <a:rPr lang="en-US" dirty="0" err="1"/>
              <a:t>podman</a:t>
            </a:r>
            <a:r>
              <a:rPr lang="en-US" dirty="0"/>
              <a:t> machine start` before this will work</a:t>
            </a:r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DACF4667-6C3E-75D3-2DBD-FB3C0C84D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Pre-Flight Check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2DFFF774-70B6-C200-3F90-765182B4BA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33B46BA7-B1F6-64A0-6A1C-33CD35E4D8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870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29196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lang="en" dirty="0"/>
              <a:t>What is a container?</a:t>
            </a:r>
            <a:endParaRPr dirty="0"/>
          </a:p>
        </p:txBody>
      </p:sp>
      <p:sp>
        <p:nvSpPr>
          <p:cNvPr id="234" name="Google Shape;234;p43"/>
          <p:cNvSpPr txBox="1">
            <a:spLocks noGrp="1"/>
          </p:cNvSpPr>
          <p:nvPr>
            <p:ph type="body" idx="1"/>
          </p:nvPr>
        </p:nvSpPr>
        <p:spPr>
          <a:xfrm>
            <a:off x="571499" y="2572000"/>
            <a:ext cx="4604799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dirty="0"/>
              <a:t>(And why should I care?)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EB4AC854-DBB2-28C7-1861-9DBB513B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53D52633-02D1-D330-53E4-8988E9A10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container is like a portable computer</a:t>
            </a:r>
          </a:p>
          <a:p>
            <a:pPr lvl="1">
              <a:buChar char="●"/>
            </a:pPr>
            <a:r>
              <a:rPr lang="en-US" dirty="0"/>
              <a:t>It comes with its own operating system, which can be different from yours</a:t>
            </a:r>
          </a:p>
          <a:p>
            <a:pPr lvl="1">
              <a:buChar char="●"/>
            </a:pPr>
            <a:r>
              <a:rPr lang="en-US" dirty="0"/>
              <a:t>It comes with specific versions of software pre-installed</a:t>
            </a:r>
          </a:p>
          <a:p>
            <a:pPr lvl="1">
              <a:buChar char="●"/>
            </a:pPr>
            <a:r>
              <a:rPr lang="en-US" dirty="0"/>
              <a:t>It runs the same way on any computer, regardless of operating system</a:t>
            </a:r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B22852AE-2B93-10EE-954A-85EBEAAD92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What is a container?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009CE7C2-302A-84A5-634A-733BE9EFFB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341A2CE7-2B3C-D09A-E7BF-D0AE250382B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56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57F9AEA7-81AC-BD2E-3A6C-FD7681F2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EE606EED-D444-12F6-78C1-F10AAAFC5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They work everywhere</a:t>
            </a:r>
            <a:r>
              <a:rPr lang="en-US" dirty="0"/>
              <a:t>: No more “well, it worked on </a:t>
            </a:r>
            <a:r>
              <a:rPr lang="en-US" i="1" dirty="0"/>
              <a:t>my</a:t>
            </a:r>
            <a:r>
              <a:rPr lang="en-US" dirty="0"/>
              <a:t> laptop.” Everyone using the container gets the same setup.</a:t>
            </a:r>
          </a:p>
          <a:p>
            <a:pPr lvl="1">
              <a:buChar char="●"/>
            </a:pPr>
            <a:r>
              <a:rPr lang="en-US" dirty="0"/>
              <a:t>Share working code with coworkers, coauthors, or anyone else</a:t>
            </a:r>
          </a:p>
          <a:p>
            <a:pPr lvl="1">
              <a:buChar char="●"/>
            </a:pPr>
            <a:r>
              <a:rPr lang="en-US" dirty="0"/>
              <a:t>Make your work reusable and reproducible</a:t>
            </a:r>
          </a:p>
          <a:p>
            <a:pPr lvl="1">
              <a:buChar char="●"/>
            </a:pPr>
            <a:r>
              <a:rPr lang="en-US" dirty="0"/>
              <a:t>Seamlessly support multi-developer projects</a:t>
            </a:r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51E26C49-5AA5-7522-132C-F15057D20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Why containers?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CA482A9F-19BF-7574-8819-828D78201A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4E196077-4618-DBEA-B208-570F4A29103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722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5667A77F-460E-44ED-54D2-2C46FAA8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46500369-FD32-2656-75E5-F8ABF31FD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>
              <a:buFont typeface="Arial"/>
              <a:buChar char="●"/>
            </a:pPr>
            <a:r>
              <a:rPr lang="en-US" b="1" dirty="0" err="1"/>
              <a:t>Podman</a:t>
            </a:r>
            <a:r>
              <a:rPr lang="en-US" b="1" dirty="0"/>
              <a:t>/Docker:</a:t>
            </a:r>
            <a:r>
              <a:rPr lang="en-US" dirty="0"/>
              <a:t> Container engines. The ‘brains’</a:t>
            </a:r>
            <a:endParaRPr lang="en-US" b="1" dirty="0"/>
          </a:p>
          <a:p>
            <a:pPr>
              <a:buFont typeface="Arial"/>
              <a:buChar char="●"/>
            </a:pPr>
            <a:r>
              <a:rPr lang="en-US" b="1" dirty="0" err="1"/>
              <a:t>Containerfile</a:t>
            </a:r>
            <a:r>
              <a:rPr lang="en-US" b="1" dirty="0"/>
              <a:t>/</a:t>
            </a:r>
            <a:r>
              <a:rPr lang="en-US" b="1" dirty="0" err="1"/>
              <a:t>Dockerfile</a:t>
            </a:r>
            <a:r>
              <a:rPr lang="en-US" dirty="0"/>
              <a:t>: Instructions for setting up a computer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Image</a:t>
            </a:r>
            <a:r>
              <a:rPr lang="en-US" dirty="0"/>
              <a:t>: The instructions from a </a:t>
            </a:r>
            <a:r>
              <a:rPr lang="en-US" dirty="0" err="1"/>
              <a:t>Containerfile</a:t>
            </a:r>
            <a:r>
              <a:rPr lang="en-US" dirty="0"/>
              <a:t> carried out and packaged up</a:t>
            </a:r>
          </a:p>
          <a:p>
            <a:pPr lvl="1">
              <a:buChar char="●"/>
            </a:pPr>
            <a:r>
              <a:rPr lang="en-US" b="1" dirty="0"/>
              <a:t>Base Image</a:t>
            </a:r>
            <a:r>
              <a:rPr lang="en-US" dirty="0"/>
              <a:t>: Common starting points packaged for distribution (e.g. python, node)</a:t>
            </a:r>
          </a:p>
          <a:p>
            <a:pPr lvl="1">
              <a:buChar char="●"/>
            </a:pPr>
            <a:r>
              <a:rPr lang="en-US" b="1" dirty="0"/>
              <a:t>Registry</a:t>
            </a:r>
            <a:r>
              <a:rPr lang="en-US" dirty="0"/>
              <a:t>: A central location for storing and sharing images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Container</a:t>
            </a:r>
            <a:r>
              <a:rPr lang="en-US" dirty="0"/>
              <a:t>: An ephemeral running copy of an image</a:t>
            </a:r>
            <a:endParaRPr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Volume</a:t>
            </a:r>
            <a:r>
              <a:rPr lang="en-US" dirty="0"/>
              <a:t>: Persistent data storage for containers</a:t>
            </a:r>
          </a:p>
          <a:p>
            <a:pPr>
              <a:buFont typeface="Arial"/>
              <a:buChar char="●"/>
            </a:pPr>
            <a:r>
              <a:rPr lang="en-US" b="1" dirty="0"/>
              <a:t>`compose` file</a:t>
            </a:r>
            <a:r>
              <a:rPr lang="en-US" dirty="0"/>
              <a:t>: A configuration file used to define and manage multi-container applications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2940065E-7B24-5C2B-BF3E-E1735CB23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Key Vocabulary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BB6A2AB4-8C99-314B-238E-E0C788FC80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D7A4781A-7B62-CC65-EDBD-E2C2D211D8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27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EF9633A5-E5A0-D59C-8FBF-556B8399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78CEFAD2-0523-08CC-D0CB-1CB8DBB0F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</a:t>
            </a:r>
            <a:r>
              <a:rPr lang="en-US" b="1" dirty="0" err="1"/>
              <a:t>Containerfile</a:t>
            </a:r>
            <a:r>
              <a:rPr lang="en-US" dirty="0"/>
              <a:t> is a template.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</a:t>
            </a:r>
            <a:r>
              <a:rPr lang="en-US" b="1" dirty="0"/>
              <a:t>image</a:t>
            </a:r>
            <a:r>
              <a:rPr lang="en-US" dirty="0"/>
              <a:t> is a filled-in template, ready to be shared and used</a:t>
            </a:r>
            <a:endParaRPr lang="en-US" b="1"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container is a </a:t>
            </a:r>
            <a:r>
              <a:rPr lang="en-US" b="1" dirty="0"/>
              <a:t>disposable instance</a:t>
            </a:r>
            <a:r>
              <a:rPr lang="en-US" dirty="0"/>
              <a:t> of that template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other words, a </a:t>
            </a:r>
            <a:r>
              <a:rPr lang="en-US" i="1" dirty="0" err="1"/>
              <a:t>Containerfile</a:t>
            </a:r>
            <a:r>
              <a:rPr lang="en-US" dirty="0"/>
              <a:t> is a recipe, an </a:t>
            </a:r>
            <a:r>
              <a:rPr lang="en-US" i="1" dirty="0"/>
              <a:t>image</a:t>
            </a:r>
            <a:r>
              <a:rPr lang="en-US" dirty="0"/>
              <a:t> is the meal cooked and frozen, and the </a:t>
            </a:r>
            <a:r>
              <a:rPr lang="en-US" i="1" dirty="0"/>
              <a:t>container</a:t>
            </a:r>
            <a:r>
              <a:rPr lang="en-US" dirty="0"/>
              <a:t> is the meal on your plate</a:t>
            </a:r>
          </a:p>
          <a:p>
            <a:pPr lvl="1">
              <a:buChar char="●"/>
            </a:pPr>
            <a:r>
              <a:rPr lang="en-US" dirty="0"/>
              <a:t>You can follow the same recipe repeatedly, you can distribute any number of prepared meals, but you can never eat the same meal twice.</a:t>
            </a:r>
          </a:p>
          <a:p>
            <a:pPr lvl="1">
              <a:buChar char="●"/>
            </a:pPr>
            <a:r>
              <a:rPr lang="en-US" dirty="0"/>
              <a:t>The result will look and taste the same, but it’s not the same meal</a:t>
            </a:r>
            <a:endParaRPr dirty="0"/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22C820D9-5871-D1B6-805A-6257905DDD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Key Concept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29632D78-BA2A-B31B-D2DB-0899CDD97D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FB813F63-70A2-A57A-FDBA-1A1D1768086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60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F90C07E7-1BA9-B2FE-CC9E-FC6DC7CA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9A5612EE-DC8E-80CF-3600-BA4629925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Define:</a:t>
            </a:r>
            <a:r>
              <a:rPr lang="en-US" dirty="0"/>
              <a:t> Add the steps required to create your environment to your </a:t>
            </a:r>
            <a:r>
              <a:rPr lang="en-US" dirty="0" err="1"/>
              <a:t>Containerfile</a:t>
            </a:r>
            <a:endParaRPr lang="en-US"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Build:</a:t>
            </a:r>
            <a:r>
              <a:rPr lang="en-US" dirty="0"/>
              <a:t> Instruct the container engine to follow the steps and package your environment for use</a:t>
            </a:r>
          </a:p>
          <a:p>
            <a:pPr lvl="1">
              <a:buChar char="●"/>
            </a:pPr>
            <a:r>
              <a:rPr lang="en-US" dirty="0"/>
              <a:t>The result is your </a:t>
            </a:r>
            <a:r>
              <a:rPr lang="en-US" b="1" dirty="0"/>
              <a:t>image</a:t>
            </a:r>
            <a:endParaRPr lang="en-US"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/>
              <a:t>Run:</a:t>
            </a:r>
            <a:r>
              <a:rPr lang="en-US" dirty="0"/>
              <a:t> Instruct the container engine to turn on a copy of your image</a:t>
            </a:r>
          </a:p>
          <a:p>
            <a:pPr lvl="1">
              <a:buChar char="●"/>
            </a:pPr>
            <a:r>
              <a:rPr lang="en-US" dirty="0"/>
              <a:t>The result is a </a:t>
            </a:r>
            <a:r>
              <a:rPr lang="en-US" b="1" dirty="0"/>
              <a:t>container</a:t>
            </a:r>
          </a:p>
          <a:p>
            <a:pPr>
              <a:buChar char="●"/>
            </a:pPr>
            <a:r>
              <a:rPr lang="en-US" b="1" dirty="0"/>
              <a:t>Repeat:</a:t>
            </a:r>
            <a:r>
              <a:rPr lang="en-US" dirty="0"/>
              <a:t> Tweak your definition, if necessary, then build and run</a:t>
            </a:r>
            <a:endParaRPr lang="en-US" b="1"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8D2B9497-6597-3AA5-109D-39774DC227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Process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26CAB67F-4467-547F-929A-BC421B56EC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6D91BFB1-4507-508B-2BED-53AD7662A5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41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889E0E1F-BCD5-FE2C-0337-0AD749E1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21A79B85-9A33-9986-38A2-BAE1D26B9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Uses a YAML file, called </a:t>
            </a:r>
            <a:r>
              <a:rPr lang="en-US" dirty="0" err="1"/>
              <a:t>compose.yml</a:t>
            </a:r>
            <a:r>
              <a:rPr lang="en-US" dirty="0"/>
              <a:t>, to define multiple containerized services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Benefits include</a:t>
            </a:r>
          </a:p>
          <a:p>
            <a:pPr lvl="1">
              <a:buChar char="●"/>
            </a:pPr>
            <a:r>
              <a:rPr lang="en-US" dirty="0"/>
              <a:t>Handles the build/run loop for us (generally)</a:t>
            </a:r>
          </a:p>
          <a:p>
            <a:pPr lvl="1">
              <a:buChar char="●"/>
            </a:pPr>
            <a:r>
              <a:rPr lang="en-US" dirty="0"/>
              <a:t>Allows us to start any number of services with a single command</a:t>
            </a:r>
          </a:p>
          <a:p>
            <a:pPr lvl="1">
              <a:buChar char="●"/>
            </a:pPr>
            <a:r>
              <a:rPr lang="en-US" dirty="0"/>
              <a:t>Configures all services into a network and gives them a name the other services can look up</a:t>
            </a:r>
          </a:p>
          <a:p>
            <a:pPr lvl="1">
              <a:buChar char="●"/>
            </a:pPr>
            <a:r>
              <a:rPr lang="en-US"/>
              <a:t>All </a:t>
            </a:r>
            <a:r>
              <a:rPr lang="en-US" dirty="0"/>
              <a:t>configuration is version controlled with your code (right?)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6204E1C6-F523-26B3-C3E9-9A003391F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Compose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8E5AD9AF-345A-4C7E-0365-F4A815038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21098297-4776-2D8E-2DDB-2894595BEE8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02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29196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lang="en" dirty="0"/>
              <a:t>Live Demo</a:t>
            </a:r>
            <a:endParaRPr dirty="0"/>
          </a:p>
        </p:txBody>
      </p:sp>
      <p:sp>
        <p:nvSpPr>
          <p:cNvPr id="240" name="Google Shape;240;p44"/>
          <p:cNvSpPr txBox="1">
            <a:spLocks noGrp="1"/>
          </p:cNvSpPr>
          <p:nvPr>
            <p:ph type="body" idx="1"/>
          </p:nvPr>
        </p:nvSpPr>
        <p:spPr>
          <a:xfrm>
            <a:off x="571500" y="2572000"/>
            <a:ext cx="2919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dirty="0"/>
              <a:t>Containerizing a multi-service app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3A48D2E2-BF25-4B15-AFEA-ED596ED1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>
            <a:extLst>
              <a:ext uri="{FF2B5EF4-FFF2-40B4-BE49-F238E27FC236}">
                <a16:creationId xmlns:a16="http://schemas.microsoft.com/office/drawing/2014/main" id="{F87832FB-D6E4-C160-4FAB-145069DEE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500" y="893100"/>
            <a:ext cx="29196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lang="en-US" dirty="0"/>
              <a:t>Final Thoughts</a:t>
            </a:r>
            <a:endParaRPr dirty="0"/>
          </a:p>
        </p:txBody>
      </p:sp>
      <p:sp>
        <p:nvSpPr>
          <p:cNvPr id="234" name="Google Shape;234;p43">
            <a:extLst>
              <a:ext uri="{FF2B5EF4-FFF2-40B4-BE49-F238E27FC236}">
                <a16:creationId xmlns:a16="http://schemas.microsoft.com/office/drawing/2014/main" id="{1553BFF0-0392-9F93-9D36-3522AD9DA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499" y="2572000"/>
            <a:ext cx="4604799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92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4D4E84-A7E7-1D09-BF34-1554ED5E6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Have a single concern per container, connected by compose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Put everything needed to create the container from scratch in the </a:t>
            </a:r>
            <a:r>
              <a:rPr lang="en-US" dirty="0" err="1"/>
              <a:t>containerfile</a:t>
            </a:r>
            <a:r>
              <a:rPr lang="en-US" dirty="0"/>
              <a:t>/</a:t>
            </a:r>
            <a:r>
              <a:rPr lang="en-US" dirty="0" err="1"/>
              <a:t>compose.yml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Pin a base image tag (don’t rely on ‘latest’)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D0B77-DB03-72A6-31A8-0E4900EEBD7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DON’T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Frankenstein frontend, backend, and database into one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secrets directly in your image!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 workflow that relies on executing commands in a running container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E44890-DD18-7A43-2087-DBB2E279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Patterns and Anti-Patterns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055CA-946B-610B-5F27-3A3DDBBB0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26A0D-5AAB-B45F-9719-FE7D2D33F9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 err="1"/>
              <a:t>dartgo.org</a:t>
            </a:r>
            <a:r>
              <a:rPr lang="en-US" dirty="0"/>
              <a:t>/</a:t>
            </a:r>
            <a:r>
              <a:rPr lang="en-US" dirty="0" err="1"/>
              <a:t>devcourse</a:t>
            </a:r>
            <a:r>
              <a:rPr lang="en-US" dirty="0"/>
              <a:t>-containers</a:t>
            </a:r>
          </a:p>
        </p:txBody>
      </p:sp>
    </p:spTree>
    <p:extLst>
      <p:ext uri="{BB962C8B-B14F-4D97-AF65-F5344CB8AC3E}">
        <p14:creationId xmlns:p14="http://schemas.microsoft.com/office/powerpoint/2010/main" val="65268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B7A03966-257D-DD86-E5A8-8DD0E927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C940D8CE-1237-B283-05E5-06498F67A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Multi-service applications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Collaborative projects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Whenever reproducibility is critical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AA790F27-972B-A96F-76EA-EED463B76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When to use containers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D3A09F03-66FF-0CBB-2834-A5DF08D964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83D54770-56FF-7D45-BAB6-C3B25F14187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199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0789896F-6039-36A2-7A78-4FEA8C02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>
            <a:extLst>
              <a:ext uri="{FF2B5EF4-FFF2-40B4-BE49-F238E27FC236}">
                <a16:creationId xmlns:a16="http://schemas.microsoft.com/office/drawing/2014/main" id="{0BC1D273-DF4D-FB2E-5266-DED075F67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131" y="1988820"/>
            <a:ext cx="8659505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.</a:t>
            </a:r>
            <a:r>
              <a:rPr lang="en-US" dirty="0" err="1"/>
              <a:t>containerignore</a:t>
            </a:r>
            <a:r>
              <a:rPr lang="en-US" dirty="0"/>
              <a:t> python </a:t>
            </a:r>
            <a:r>
              <a:rPr lang="en-US" dirty="0" err="1"/>
              <a:t>venv</a:t>
            </a:r>
            <a:r>
              <a:rPr lang="en-US" dirty="0"/>
              <a:t>, </a:t>
            </a:r>
            <a:r>
              <a:rPr lang="en-US" dirty="0" err="1"/>
              <a:t>node_modules</a:t>
            </a:r>
            <a:r>
              <a:rPr lang="en-US" dirty="0"/>
              <a:t>, and similar to ensure a seamless transition from local development</a:t>
            </a: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Cacheing</a:t>
            </a:r>
            <a:r>
              <a:rPr lang="en-US" dirty="0"/>
              <a:t>: </a:t>
            </a:r>
            <a:r>
              <a:rPr lang="en-US" dirty="0" err="1"/>
              <a:t>Containerfiles</a:t>
            </a:r>
            <a:r>
              <a:rPr lang="en-US" dirty="0"/>
              <a:t> are built in order and each layer is cached.</a:t>
            </a:r>
          </a:p>
          <a:p>
            <a:pPr lvl="1">
              <a:buChar char="●"/>
            </a:pPr>
            <a:r>
              <a:rPr lang="en-US" dirty="0"/>
              <a:t>Changing the first layer invalidates all the subsequent layers</a:t>
            </a:r>
          </a:p>
          <a:p>
            <a:pPr lvl="1">
              <a:buChar char="●"/>
            </a:pPr>
            <a:r>
              <a:rPr lang="en-US" dirty="0"/>
              <a:t>Sensible order of operations can speed up slow builds</a:t>
            </a:r>
          </a:p>
        </p:txBody>
      </p:sp>
      <p:sp>
        <p:nvSpPr>
          <p:cNvPr id="265" name="Google Shape;265;p48">
            <a:extLst>
              <a:ext uri="{FF2B5EF4-FFF2-40B4-BE49-F238E27FC236}">
                <a16:creationId xmlns:a16="http://schemas.microsoft.com/office/drawing/2014/main" id="{E860D361-4C7F-FC6F-C354-0CE9901EA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19" y="1043580"/>
            <a:ext cx="8659505" cy="69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" dirty="0"/>
              <a:t>What to learn next</a:t>
            </a:r>
            <a:endParaRPr dirty="0"/>
          </a:p>
        </p:txBody>
      </p:sp>
      <p:sp>
        <p:nvSpPr>
          <p:cNvPr id="266" name="Google Shape;266;p48">
            <a:extLst>
              <a:ext uri="{FF2B5EF4-FFF2-40B4-BE49-F238E27FC236}">
                <a16:creationId xmlns:a16="http://schemas.microsoft.com/office/drawing/2014/main" id="{E080EDC4-C2F4-690F-4C59-EE6CAC9ADA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6265" y="4913605"/>
            <a:ext cx="392530" cy="16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04C2C330-6849-F377-6340-CB64C653CD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789938" y="4924044"/>
            <a:ext cx="556869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dartgo.org/devcourse-containers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612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>
            <a:spLocks noGrp="1"/>
          </p:cNvSpPr>
          <p:nvPr>
            <p:ph type="title"/>
          </p:nvPr>
        </p:nvSpPr>
        <p:spPr>
          <a:xfrm>
            <a:off x="241697" y="1684833"/>
            <a:ext cx="8660606" cy="1898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tmouth">
  <a:themeElements>
    <a:clrScheme name="Custom 4">
      <a:dk1>
        <a:srgbClr val="000000"/>
      </a:dk1>
      <a:lt1>
        <a:srgbClr val="FFFFFF"/>
      </a:lt1>
      <a:dk2>
        <a:srgbClr val="797979"/>
      </a:dk2>
      <a:lt2>
        <a:srgbClr val="D9D9D9"/>
      </a:lt2>
      <a:accent1>
        <a:srgbClr val="00693E"/>
      </a:accent1>
      <a:accent2>
        <a:srgbClr val="12312B"/>
      </a:accent2>
      <a:accent3>
        <a:srgbClr val="C3DD88"/>
      </a:accent3>
      <a:accent4>
        <a:srgbClr val="6EAA8D"/>
      </a:accent4>
      <a:accent5>
        <a:srgbClr val="797979"/>
      </a:accent5>
      <a:accent6>
        <a:srgbClr val="EBF3EF"/>
      </a:accent6>
      <a:hlink>
        <a:srgbClr val="00693E"/>
      </a:hlink>
      <a:folHlink>
        <a:srgbClr val="1231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755</Words>
  <Application>Microsoft Macintosh PowerPoint</Application>
  <PresentationFormat>On-screen Show (16:9)</PresentationFormat>
  <Paragraphs>101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EB Garamond Medium</vt:lpstr>
      <vt:lpstr>Simple Light</vt:lpstr>
      <vt:lpstr>Dartmouth</vt:lpstr>
      <vt:lpstr>Containers for Local Development</vt:lpstr>
      <vt:lpstr>What we’ll learn</vt:lpstr>
      <vt:lpstr>Pre-Flight Check</vt:lpstr>
      <vt:lpstr>What is a container?</vt:lpstr>
      <vt:lpstr>What is a container?</vt:lpstr>
      <vt:lpstr>Why containers?</vt:lpstr>
      <vt:lpstr>Key Vocabulary</vt:lpstr>
      <vt:lpstr>Key Concept</vt:lpstr>
      <vt:lpstr>Process</vt:lpstr>
      <vt:lpstr>Compose</vt:lpstr>
      <vt:lpstr>Live Demo</vt:lpstr>
      <vt:lpstr>Final Thoughts</vt:lpstr>
      <vt:lpstr>Container Patterns and Anti-Patterns</vt:lpstr>
      <vt:lpstr>When to use containers</vt:lpstr>
      <vt:lpstr>What to learn next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 Rogers</cp:lastModifiedBy>
  <cp:revision>40</cp:revision>
  <dcterms:modified xsi:type="dcterms:W3CDTF">2026-09-30T13:17:16Z</dcterms:modified>
</cp:coreProperties>
</file>